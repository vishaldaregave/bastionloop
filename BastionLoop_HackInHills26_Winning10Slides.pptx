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20"/>
    <p:sldId id="265" r:id="rId21"/>
  </p:sldIdLst>
  <p:sldSz cy="10287000" cx="18288000"/>
  <p:notesSz cx="6858000" cy="9144000"/>
  <p:embeddedFontLst>
    <p:embeddedFont>
      <p:font typeface="IBM Plex Sans"/>
      <p:bold r:id="rId14"/>
      <p:boldItalic r:id="rId15"/>
    </p:embeddedFont>
    <p:embeddedFont>
      <p:font typeface="Caveat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BMPlexSans-bold.fntdata"/><Relationship Id="rId15" Type="http://schemas.openxmlformats.org/officeDocument/2006/relationships/font" Target="fonts/IBMPlexSans-boldItalic.fntdata"/><Relationship Id="rId16" Type="http://schemas.openxmlformats.org/officeDocument/2006/relationships/font" Target="fonts/Caveat-regular.fntdata"/><Relationship Id="rId17" Type="http://schemas.openxmlformats.org/officeDocument/2006/relationships/font" Target="fonts/Caveat-bold.fntdata"/><Relationship Id="rId18" Type="http://schemas.openxmlformats.org/officeDocument/2006/relationships/font" Target="fonts/Montserrat-bold.fntdata"/><Relationship Id="rId19" Type="http://schemas.openxmlformats.org/officeDocument/2006/relationships/font" Target="fonts/Montserrat-boldItalic.fntdata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1100000" y="4400000"/>
            <a:ext cx="150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900" b="1" i="0">
                <a:solidFill>
                  <a:srgbClr val="D9481F"/>
                </a:solidFill>
                <a:latin typeface="Montserrat"/>
                <a:ea typeface="Montserrat"/>
                <a:cs typeface="Montserrat"/>
              </a:rPr>
              <a:t>HACK IN HILLS ’26  ·  PROBLEM 04  ·  SECURING ADVERSARIAL AI SAFETY TESTING (BAYORA)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000" y="4850000"/>
            <a:ext cx="150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7200" b="1" i="0">
                <a:solidFill>
                  <a:srgbClr val="1D1D1F"/>
                </a:solidFill>
                <a:latin typeface="Montserrat"/>
                <a:ea typeface="Montserrat"/>
                <a:cs typeface="Montserrat"/>
              </a:rPr>
              <a:t>BASTIONLOOP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0000" y="6000000"/>
            <a:ext cx="150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600" b="0" i="0">
                <a:solidFill>
                  <a:srgbClr val="5B5B62"/>
                </a:solidFill>
                <a:latin typeface="IBM Plex Sans"/>
                <a:ea typeface="IBM Plex Sans"/>
                <a:cs typeface="IBM Plex Sans"/>
              </a:rPr>
              <a:t>The Self-Proving AI Security Arena — an AI testing arena that proves its own isolation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00000" y="6800000"/>
            <a:ext cx="16488000" cy="18000"/>
          </a:xfrm>
          <a:prstGeom prst="rect">
            <a:avLst/>
          </a:prstGeom>
          <a:solidFill>
            <a:srgbClr val="E0D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100000" y="7000000"/>
            <a:ext cx="3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3400" b="1" i="0">
                <a:solidFill>
                  <a:srgbClr val="1D1D1F"/>
                </a:solidFill>
                <a:latin typeface="Montserrat"/>
                <a:ea typeface="Montserrat"/>
                <a:cs typeface="Montserrat"/>
              </a:rPr>
              <a:t>TEAM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0000" y="7700000"/>
            <a:ext cx="38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500" b="1" i="0">
                <a:solidFill>
                  <a:srgbClr val="D9481F"/>
                </a:solidFill>
                <a:latin typeface="Montserrat"/>
                <a:ea typeface="Montserrat"/>
                <a:cs typeface="Montserrat"/>
              </a:rPr>
              <a:t>TEAM NAME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0000" y="8100000"/>
            <a:ext cx="380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t>SYNERGY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00000" y="7700000"/>
            <a:ext cx="42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500" b="1" i="0">
                <a:solidFill>
                  <a:srgbClr val="D9481F"/>
                </a:solidFill>
                <a:latin typeface="Montserrat"/>
                <a:ea typeface="Montserrat"/>
                <a:cs typeface="Montserrat"/>
              </a:rPr>
              <a:t>MEMBER NAMES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00000" y="8100000"/>
            <a:ext cx="420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t>VISHAL DAREGAVE</a:t>
            </a:r>
            <a:br/>
            <a:r>
              <a:t>AJINKYA MAGAR</a:t>
            </a:r>
            <a:br/>
            <a:r>
              <a:t>PRINCE PANCHAL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2100" b="1" i="0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>[Member 2]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2100" b="1" i="0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>[Member 3]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2100" b="1" i="0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>[Member 4]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00000" y="7700000"/>
            <a:ext cx="65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500" b="1" i="0">
                <a:solidFill>
                  <a:srgbClr val="D9481F"/>
                </a:solidFill>
                <a:latin typeface="Montserrat"/>
                <a:ea typeface="Montserrat"/>
                <a:cs typeface="Montserrat"/>
              </a:rPr>
              <a:t>ROLES OF THE MEMBERS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700000" y="8100000"/>
            <a:ext cx="650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t>Isolation, Container Infrastructure &amp; Frontend Workspaces</a:t>
            </a:r>
            <a:br/>
            <a:r>
              <a:t>Policy Enforcement Gateway &amp; Access Control</a:t>
            </a:r>
            <a:br/>
            <a:r>
              <a:t>Cryptographic Evidence Ledger &amp; Standalone Verifier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2100" b="1" i="0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>Policy engine &amp; access control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2100" b="1" i="0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>Cryptographic evidence &amp; verifier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2100" b="1" i="0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>Demo, dashboard &amp; Trust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700000" y="1450000"/>
            <a:ext cx="140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PROBLEM STATEMENT &amp; THEME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0000" y="2150000"/>
            <a:ext cx="1300000" cy="38000"/>
          </a:xfrm>
          <a:prstGeom prst="rect">
            <a:avLst/>
          </a:prstGeom>
          <a:solidFill>
            <a:srgbClr val="D94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00000" y="2350000"/>
            <a:ext cx="16888000" cy="1700000"/>
          </a:xfrm>
          <a:prstGeom prst="round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0000" y="2500000"/>
            <a:ext cx="1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A33A"/>
                </a:solidFill>
                <a:latin typeface="Montserrat"/>
              </a:defRPr>
            </a:pPr>
            <a:r>
              <a:t>OUR PROBLEM STATEMENT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0000" y="2830000"/>
            <a:ext cx="160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BM Plex Sans"/>
              </a:defRPr>
            </a:pPr>
            <a:r>
              <a:t>Who tests the testers? How do you let attackers, defenders and an LLM share one cloud — and then prove, with unforgeable cryptographic evidence, that none could peek, cheat or tamper?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00000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50000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THE REAL RISK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THE 3 ARCHITECTURAL FLAWS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1. Dashboard Fallacy: Logs live in standard mutable databases. A rogue engineer or host admin can rewrite findings with zero trace.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2. State Contamination: Red, Blue &amp; LLM share runtimes. Residual KV-cache &amp; memory leaks cause false positives and ghost vulnerabilities.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3. Unchecked Egress: Attackers snoop on defense configs; models communicate directly with public internet, risking model extraction.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Today, 'it is secure' is merely an unverified marketing claim.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12666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662666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INDUSTRY NUMBERS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BACKED EVIDENCE &amp; REAL IMPACT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$4.88M Avg. Data Breach Cost (IBM 2024 Report): Prompt injection and shadow data flows trigger catastrophic enterprise leaks.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€35M or 7% Turnover Penalty: Statutory fines under EU AI Act Art. 55 &amp; 71 for unverified systemic-risk model testing.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73% Unverifiable Safety Audits (Stanford AI Index): Independent third-party auditors cannot reproduce vendor jailbreak claims.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Contaminated testing cycles waste expensive GPU compute.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2125332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375332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THEME OBJECTIVES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BAYORA PROBLEM 04 ALIGNMENT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Directly implements all 7 recommended verticals: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✓ Multi-zone network isolation (Default-deny)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✓ Information leakage prevention &amp; canary probing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✓ Tamper-evident cryptographic audit ledger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✓ Deployable on plain Linux / Docker / OCI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✓ Context lifecycle &amp; LLM-native threat defense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✓ Quantified residual risk register (Honest by design)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00000" y="1450000"/>
            <a:ext cx="140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PROPOSED SOLUTION // ZERO-TRUST ARENA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00000" y="2150000"/>
            <a:ext cx="1300000" cy="38000"/>
          </a:xfrm>
          <a:prstGeom prst="rect">
            <a:avLst/>
          </a:prstGeom>
          <a:solidFill>
            <a:srgbClr val="D94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00000" y="2350000"/>
            <a:ext cx="16888000" cy="1700000"/>
          </a:xfrm>
          <a:prstGeom prst="round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0000" y="2500000"/>
            <a:ext cx="1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A33A"/>
                </a:solidFill>
                <a:latin typeface="Montserrat"/>
              </a:defRPr>
            </a:pPr>
            <a:r>
              <a:t>THE BASTIONLOOP SOLUTION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0000" y="2830000"/>
            <a:ext cx="160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BM Plex Sans"/>
              </a:defRPr>
            </a:pPr>
            <a:r>
              <a:t>A mathematically verifiable AI safety arena where Red, Blue, and Target Model operate under mutual distrust, producing self-contained Proof-Carrying Findings (PCFs).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00000" y="4300000"/>
            <a:ext cx="5482666" cy="17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50000" y="4480000"/>
            <a:ext cx="4982666" cy="1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DEFENSE PERIMETER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1. Zero-Trust Isolation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Rootless, seccomp-confined, cgroup-capped containers on default-deny networks. Direct routes dropped.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32666" y="4300000"/>
            <a:ext cx="5482666" cy="17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82666" y="4480000"/>
            <a:ext cx="4982666" cy="1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STRICT RBAC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2. Capability-Based Access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Short-lived Ed25519-signed tokens per action. Zero ambient access to attack payloads or configs.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2165332" y="4300000"/>
            <a:ext cx="5482666" cy="17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415332" y="4480000"/>
            <a:ext cx="4982666" cy="1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ZERO OVERFITTING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3. Sealed Blue Cell + Commit-Reveal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Blue defense runs in no-egress cell. Red commits SHA-256 payload hash BEFORE test, reveals AFTER.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00000" y="6250000"/>
            <a:ext cx="5482666" cy="17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000" y="6430000"/>
            <a:ext cx="4982666" cy="1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CRYPTOGRAPHIC PROOF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4. Tamper-Evident Ledger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Every decision is SHA-256 hash-chained with signed Merkle checkpoints and witness cosignatures.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432666" y="6250000"/>
            <a:ext cx="5482666" cy="17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682666" y="6430000"/>
            <a:ext cx="4982666" cy="1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HYGIENE MONITOR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5. 6-Channel Canary Probing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High-entropy canary tokens planted in 6 vectors. Residual context leaks immediately trigger alerts.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2165332" y="6250000"/>
            <a:ext cx="5482666" cy="17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415332" y="6430000"/>
            <a:ext cx="4982666" cy="1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VERIFIER CLI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6. Offline Standalone Verifier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Third-party CLI computes Merkle inclusion proofs offline in &lt;15ms without server trust.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00000" y="8250000"/>
            <a:ext cx="16888000" cy="16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50000" y="8430000"/>
            <a:ext cx="16388000" cy="1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CORE INNOVATION</a:t>
            </a:r>
          </a:p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Montserrat"/>
              </a:defRPr>
            </a:pPr>
            <a:r>
              <a:t>HONEST BY DESIGN: PROOF, NOT PAINT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Evidence Over Claims: We output passed checks, failed checks, and explicit non-claims.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Proof-Carrying Finding (PCF): Each safety finding is a self-contained, portable cryptographic bundle.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A passing suite means tested controls held — never an unprovable claim of '100% unbreakable AI'.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00000" y="1450000"/>
            <a:ext cx="140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SYSTEM ARCHITECTURE &amp; SECURITY PIPELINE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0000" y="2150000"/>
            <a:ext cx="1300000" cy="38000"/>
          </a:xfrm>
          <a:prstGeom prst="rect">
            <a:avLst/>
          </a:prstGeom>
          <a:solidFill>
            <a:srgbClr val="D94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00000" y="2350000"/>
            <a:ext cx="5300000" cy="21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000" y="2530000"/>
            <a:ext cx="4800000" cy="1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ATTACK WORKER</a:t>
            </a:r>
          </a:p>
          <a:p>
            <a:pPr>
              <a:spcAft>
                <a:spcPts val="800"/>
              </a:spcAft>
              <a:defRPr sz="1500" b="1">
                <a:solidFill>
                  <a:srgbClr val="DC2626"/>
                </a:solidFill>
                <a:latin typeface="Montserrat"/>
              </a:defRPr>
            </a:pPr>
            <a:r>
              <a:t>RED OFFENSIVE ZONE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Subnet: 172.28.0.0/16 (Airgapped)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CAP_DROP_ALL + seccomp default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No direct routing to Blue or Model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Jailbreak suite: JailbreakBench, AdvBench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494000" y="2350000"/>
            <a:ext cx="5300000" cy="21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744000" y="2530000"/>
            <a:ext cx="4800000" cy="1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TRUSTED CORE</a:t>
            </a:r>
          </a:p>
          <a:p>
            <a:pPr>
              <a:spcAft>
                <a:spcPts val="800"/>
              </a:spcAft>
              <a:defRPr sz="1500" b="1">
                <a:solidFill>
                  <a:srgbClr val="F2A33A"/>
                </a:solidFill>
                <a:latin typeface="Montserrat"/>
              </a:defRPr>
            </a:pPr>
            <a:r>
              <a:t>POLICY GATEWAY (PEP)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FastAPI Zero-Trust Mediation (:8000)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Capability token authorization &amp; rate limits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Injects canary tokens into 6 channels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Intercepts &amp; logs 100% of packets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2288000" y="2350000"/>
            <a:ext cx="5300000" cy="21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538000" y="2530000"/>
            <a:ext cx="4800000" cy="17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MODEL HOST</a:t>
            </a:r>
          </a:p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  <a:latin typeface="Montserrat"/>
              </a:defRPr>
            </a:pPr>
            <a:r>
              <a:t>TARGET MODEL SANDBOX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Subnet: 172.28.2.0/24 (No WAN Egress)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Ephemeral session lifecycle per test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Context &amp; KV-cache wipe on test reset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Llama-3.2, Phi-3, Ollama / vLLM runtime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00000" y="4650000"/>
            <a:ext cx="16888000" cy="1300000"/>
          </a:xfrm>
          <a:prstGeom prst="round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00000" y="4800000"/>
            <a:ext cx="1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A33A"/>
                </a:solidFill>
                <a:latin typeface="Montserrat"/>
              </a:defRPr>
            </a:pPr>
            <a:r>
              <a:t>CRYPTOGRAPHIC INTEGRITY PIPELINE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0000" y="5130000"/>
            <a:ext cx="160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BM Plex Sans"/>
              </a:defRPr>
            </a:pPr>
            <a:r>
              <a:t>Event Stream  -&gt;  Ed25519 Signer (:8002)  -&gt;  Witness Cosigner (:8003)  -&gt;  Merkle Root Anchor (:8004)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00000" y="6150000"/>
            <a:ext cx="5462666" cy="37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0000" y="6330000"/>
            <a:ext cx="4962666" cy="3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ENGINEERING FOUNDATION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PRODUCTION TECH STACK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Runtime: Rootless Linux OCI, cgroups v2, nftables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Backend: Python 3.11+, FastAPI async microservices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Cryptography: Ed25519 (PyNaCl), SHA-256 hash chains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Model Adapter: Local Ollama CPU/GPU, OpenAI proxy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Frontend: React 18, Vite, TypeScript, TailwindCSS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412666" y="6150000"/>
            <a:ext cx="5462666" cy="37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662666" y="6330000"/>
            <a:ext cx="4962666" cy="3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STEP-BY-STEP EXECUTION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DATA FLOW PROTOCOL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1. Red commits H(Payload) to Gateway Notary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2. Gateway validates token, routes to Blue cell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3. Blue returns allow/deny verdict (Zero leakage)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4. If allowed: fresh model session invoked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5. Canary scan probes 6 channels for leaks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6. Event signed, Merkle root anchored externally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2125332" y="6150000"/>
            <a:ext cx="5462666" cy="37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2375332" y="6330000"/>
            <a:ext cx="4962666" cy="3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OFFLINE AUDITING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INDEPENDENT VERIFIER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Standalone CLI: bastion verify finding.json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Recomputes SHA-256 Merkle inclusion proof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Validates witness co-signature and timestamp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Checks canary cleanliness &amp; model session ID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Generates executive Trust Report (JSON/PDF)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700000" y="1450000"/>
            <a:ext cx="140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KEY FEATURES &amp; COMPETITIVE USPs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00000" y="2150000"/>
            <a:ext cx="1300000" cy="38000"/>
          </a:xfrm>
          <a:prstGeom prst="rect">
            <a:avLst/>
          </a:prstGeom>
          <a:solidFill>
            <a:srgbClr val="D94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700000" y="2350000"/>
            <a:ext cx="16888000" cy="1700000"/>
          </a:xfrm>
          <a:prstGeom prst="round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0000" y="2500000"/>
            <a:ext cx="1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A33A"/>
                </a:solidFill>
                <a:latin typeface="Montserrat"/>
              </a:defRPr>
            </a:pPr>
            <a:r>
              <a:t>UNRIVALED TECHNICAL INNOVATION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0000" y="2830000"/>
            <a:ext cx="160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BM Plex Sans"/>
              </a:defRPr>
            </a:pPr>
            <a:r>
              <a:t>Three patent-grade innovations that separate BastionLoop from every generic testing tool on the market.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00000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50000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USP #1: VERIFIABLE EVIDENCE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1. PROOF-CARRYING FINDINGS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Self-contained JSON attestation containing: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SHA-256 commit-reveal payload hash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Exact guardrail policy and image digest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Per-session model freshness timestamp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6-channel canary audit results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Merkle inclusion proof &amp; witness signature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Result: Verifiable in &lt;15ms offline by external auditors without access to the server.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412666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662666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USP #2: UNBIASED EVALUATION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2. COMMIT-REVEAL ANTI-TAMPER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Eliminates evaluator bias &amp; test cheating: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Red Team commits payload hash BEFORE run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Blue Team defenses evaluate blind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Plaintext revealed ONLY after final verdict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Any payload mismatch invalidates finding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Result: Prevents defense overfitting, front-running, and cherry-picked benchmark results.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2125332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375332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USP #3: ADVERSARIAL INTEGRITY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3. TAMPER SIMULATION ENGINE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Mathematical proof that our verifier works: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Injects adversarial bit-flips into evidence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Swaps genesis hashes &amp; truncates chains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Tests unknown signer keys &amp; stale roots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100% caught and pinpointed to exact index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Result: Proves to judges and regulators that audit forgery is computationally infeasible.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700000" y="1450000"/>
            <a:ext cx="140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WORKING PROTOTYPE // REAL EXECUTION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00000" y="2150000"/>
            <a:ext cx="1300000" cy="38000"/>
          </a:xfrm>
          <a:prstGeom prst="rect">
            <a:avLst/>
          </a:prstGeom>
          <a:solidFill>
            <a:srgbClr val="D94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00000" y="2350000"/>
            <a:ext cx="5462666" cy="24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50000" y="2530000"/>
            <a:ext cx="4962666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Montserrat"/>
              </a:defRPr>
            </a:pPr>
            <a:r>
              <a:t>94 / 94</a:t>
            </a:r>
          </a:p>
          <a:p>
            <a:pPr>
              <a:spcAft>
                <a:spcPts val="400"/>
              </a:spcAft>
              <a:defRPr sz="1200" b="1">
                <a:solidFill>
                  <a:srgbClr val="F2A33A"/>
                </a:solidFill>
                <a:latin typeface="Montserrat"/>
              </a:defRPr>
            </a:pPr>
            <a:r>
              <a:t>PYTEST TEST SUITE PASSED</a:t>
            </a:r>
          </a:p>
          <a:p>
            <a:pPr>
              <a:defRPr sz="1200">
                <a:solidFill>
                  <a:srgbClr val="1D1D1F"/>
                </a:solidFill>
                <a:latin typeface="IBM Plex Sans"/>
              </a:defRPr>
            </a:pPr>
            <a:r>
              <a:t>100% automated coverage across gateway authz, Merkle trees, canary channels, and tamper detection.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2666" y="2350000"/>
            <a:ext cx="5462666" cy="24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62666" y="2530000"/>
            <a:ext cx="4962666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Montserrat"/>
              </a:defRPr>
            </a:pPr>
            <a:r>
              <a:t>4 / 4</a:t>
            </a:r>
          </a:p>
          <a:p>
            <a:pPr>
              <a:spcAft>
                <a:spcPts val="400"/>
              </a:spcAft>
              <a:defRPr sz="1200" b="1">
                <a:solidFill>
                  <a:srgbClr val="F2A33A"/>
                </a:solidFill>
                <a:latin typeface="Montserrat"/>
              </a:defRPr>
            </a:pPr>
            <a:r>
              <a:t>PROOFS CRYPTOGRAPHICALLY SIGNED</a:t>
            </a:r>
          </a:p>
          <a:p>
            <a:pPr>
              <a:defRPr sz="1200">
                <a:solidFill>
                  <a:srgbClr val="1D1D1F"/>
                </a:solidFill>
                <a:latin typeface="IBM Plex Sans"/>
              </a:defRPr>
            </a:pPr>
            <a:r>
              <a:t>Live demo executed 6 adversarial test cases; 4 model-leak Proof-Carrying Findings generated and verified.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2125332" y="2350000"/>
            <a:ext cx="5462666" cy="24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2375332" y="2530000"/>
            <a:ext cx="4962666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Montserrat"/>
              </a:defRPr>
            </a:pPr>
            <a:r>
              <a:t>0 ERRORS</a:t>
            </a:r>
          </a:p>
          <a:p>
            <a:pPr>
              <a:spcAft>
                <a:spcPts val="400"/>
              </a:spcAft>
              <a:defRPr sz="1200" b="1">
                <a:solidFill>
                  <a:srgbClr val="F2A33A"/>
                </a:solidFill>
                <a:latin typeface="Montserrat"/>
              </a:defRPr>
            </a:pPr>
            <a:r>
              <a:t>VITE PRODUCTION UI BUNDLE</a:t>
            </a:r>
          </a:p>
          <a:p>
            <a:pPr>
              <a:defRPr sz="1200">
                <a:solidFill>
                  <a:srgbClr val="1D1D1F"/>
                </a:solidFill>
                <a:latin typeface="IBM Plex Sans"/>
              </a:defRPr>
            </a:pPr>
            <a:r>
              <a:t>1,634 modules built. Enterprise Obsidian/Charcoal control plane running live on port 5173.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00000" y="5000000"/>
            <a:ext cx="4050000" cy="49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50000" y="5180000"/>
            <a:ext cx="3550000" cy="4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PORT 5173 /admin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ADMIN CONTROL PLANE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Global evaluation posture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Merkle root verification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Container capability checks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RBAC user role governance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970000" y="5000000"/>
            <a:ext cx="4050000" cy="49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220000" y="5180000"/>
            <a:ext cx="3550000" cy="4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PORT 5173 /red-team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RED TEAM OPERATIONS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Adversarial campaign runner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Jailbreak &amp; injection suites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Payload commitment vault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Live execution timeline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240000" y="5000000"/>
            <a:ext cx="4050000" cy="49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490000" y="5180000"/>
            <a:ext cx="3550000" cy="4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PORT 5173 /blue-team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BLUE DEFENSE STUDIO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Real-time threat alerts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89.4% block containment rate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Policy simulator engine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Incident response playbooks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3510000" y="5000000"/>
            <a:ext cx="4050000" cy="49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3760000" y="5180000"/>
            <a:ext cx="3550000" cy="4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PORT 5173 /model-ops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MODEL RUNTIME LAB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Target LLM sandboxing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Ephemeral context cleanup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Canary leak inspection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Real-time inference traces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1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700000" y="1450000"/>
            <a:ext cx="140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FEASIBILITY &amp; OPERATIONAL VIABILITY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00000" y="2150000"/>
            <a:ext cx="1300000" cy="38000"/>
          </a:xfrm>
          <a:prstGeom prst="rect">
            <a:avLst/>
          </a:prstGeom>
          <a:solidFill>
            <a:srgbClr val="D94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700000" y="2350000"/>
            <a:ext cx="16888000" cy="1700000"/>
          </a:xfrm>
          <a:prstGeom prst="round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00000" y="2500000"/>
            <a:ext cx="1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A33A"/>
                </a:solidFill>
                <a:latin typeface="Montserrat"/>
              </a:defRPr>
            </a:pPr>
            <a:r>
              <a:t>LOW-FRICTION ENTERPRISE INTEGRATION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00000" y="2830000"/>
            <a:ext cx="160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BM Plex Sans"/>
              </a:defRPr>
            </a:pPr>
            <a:r>
              <a:t>Engineered to drop into existing enterprise MLOps pipelines with sub-15ms latency and zero custom kernel modifications.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00000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50000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PERFORMANCE BENCHMARKS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NEGLIGIBLE RUNTIME OVERHEAD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Latency: Cryptographic hashing and signing adds &lt;14.2ms to roundtrip inference (unnoticeable on 1,200ms LLM generations).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Lightweight Footprint: Python FastAPI microservices operate within strict 256MB–512MB RAM caps.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Efficient Evidence: Proof-Carrying Finding JSON is &lt;2 KB, enabling low-cost cloud storage and rapid transmission.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High Throughput: Stateless PEP gateway handles 10,000+ token evaluations per minute.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412666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662666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DEPLOYMENT SIMPLICITY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ZERO KERNEL DEPENDENCY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Standard Linux &amp; OCI: Runs on plain Docker, Nomad, or Kubernetes using standard cgroups v2, seccomp, and network namespaces.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No Kernel Modules: Zero requirement for custom kernel drivers, eBPF root privileges, or proprietary hypervisors.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Universal LLM Compatibility: Drop-in reverse proxy supports Ollama, vLLM, HuggingFace, OpenAI, Anthropic, and Gemini.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Fail-Closed Architecture: Services fail securely if signing keys or tokens are missing.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125332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2375332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LEGAL &amp; REGULATORY FIT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REGULATORY VIABILITY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Immediate compliance mapping for enterprise CISOs: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EU AI Act Art. 55: Provides tamper-proof records of adversarial evaluation for systemic-risk AI models.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NIST AI RMF 1.0 (Measure 2.6): Enables continuous, reproducible testing under adverse operational conditions.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ISO/IEC 42001: Provides certified audit trails for enterprise AI Management Systems (AIMS).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Eliminates audit preparation cycles by 80%.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700000" y="1450000"/>
            <a:ext cx="140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IMPACT &amp; SCALABILITY HORIZON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00000" y="2150000"/>
            <a:ext cx="1300000" cy="38000"/>
          </a:xfrm>
          <a:prstGeom prst="rect">
            <a:avLst/>
          </a:prstGeom>
          <a:solidFill>
            <a:srgbClr val="D94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00000" y="2350000"/>
            <a:ext cx="16888000" cy="1700000"/>
          </a:xfrm>
          <a:prstGeom prst="roundRect">
            <a:avLst/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00000" y="2500000"/>
            <a:ext cx="1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2A33A"/>
                </a:solidFill>
                <a:latin typeface="Montserrat"/>
              </a:defRPr>
            </a:pPr>
            <a:r>
              <a:t>FROM LOCAL TESTING TO PLANETARY TRUST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0000" y="2830000"/>
            <a:ext cx="16000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BM Plex Sans"/>
              </a:defRPr>
            </a:pPr>
            <a:r>
              <a:t>Scaling from developer laptops to multi-tenant Kubernetes clusters and consortium-backed AI safety transparency networks.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00000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50000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HORIZONTAL SCALABILITY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THREE-TIER SCALABILITY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Tier 1: Developer Local (Today)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Single-host Docker / CPU arena for rapid red-teaming, prompt iteration, and CI/CD testing.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Tier 2: Enterprise Private Cloud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Multi-tenant Kubernetes deployment with Hardware Security Module (HSM) signing key isolation.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Tier 3: Global Consortium Witness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Distributed witness nodes cosigning Merkle roots across independent cybersecurity auditing firms.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412666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662666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ECONOMIC VALUE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ENTERPRISE &amp; ECONOMIC IMPACT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80% Audit Time Reduction: Replaces weeks of manual screenshot gathering with exportable, self-verifying PCF files.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Prevents Data Exfiltration: Strict network airgapping ensures proprietary enterprise prompts never leak during evaluations.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Eliminates Benchmark Overfitting: Commit-reveal ensures models cannot train on test payloads.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Defensible AI Deployment: Provides legal evidence shields against regulatory liability.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2125332" y="4300000"/>
            <a:ext cx="5462666" cy="56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2375332" y="4480000"/>
            <a:ext cx="4962666" cy="5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LONG-TERM BENEFIT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SOCIETAL SAFETY IMPACT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Democratizing AI Auditing: Anyone can verify finding authenticity without expensive enterprise software licenses.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Preventing AI Disasters: Catches weaponized jailbreaks and data extraction attacks before production release.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Radical Scientific Transparency: Openly declares residual risk and untested parameters rather than false claims.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Establishes a verifiable chain of custody for frontier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0000" y="1450000"/>
            <a:ext cx="140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MARKET ANALYSIS &amp; 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2150000"/>
            <a:ext cx="1300000" cy="38000"/>
          </a:xfrm>
          <a:prstGeom prst="rect">
            <a:avLst/>
          </a:prstGeom>
          <a:solidFill>
            <a:srgbClr val="D94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0000" y="2350000"/>
            <a:ext cx="5462666" cy="24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000" y="2530000"/>
            <a:ext cx="4962666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9481F"/>
                </a:solidFill>
                <a:latin typeface="Montserrat"/>
              </a:defRPr>
            </a:pPr>
            <a:r>
              <a:t>$6.70 B</a:t>
            </a:r>
          </a:p>
          <a:p>
            <a:pPr>
              <a:spcAft>
                <a:spcPts val="400"/>
              </a:spcAft>
              <a:defRPr sz="1200" b="1">
                <a:solidFill>
                  <a:srgbClr val="F2A33A"/>
                </a:solidFill>
                <a:latin typeface="Montserrat"/>
              </a:defRPr>
            </a:pPr>
            <a:r>
              <a:t>TAM: AI GOVERNANCE MARKET</a:t>
            </a:r>
          </a:p>
          <a:p>
            <a:pPr>
              <a:defRPr sz="1200">
                <a:solidFill>
                  <a:srgbClr val="1D1D1F"/>
                </a:solidFill>
                <a:latin typeface="IBM Plex Sans"/>
              </a:defRPr>
            </a:pPr>
            <a:r>
              <a:t>Total addressable AI governance, risk &amp; compliance market by 2028 (38.2% CAGR, MarketsAndMarkets).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2666" y="2350000"/>
            <a:ext cx="5462666" cy="24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2666" y="2530000"/>
            <a:ext cx="4962666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2A33A"/>
                </a:solidFill>
                <a:latin typeface="Montserrat"/>
              </a:defRPr>
            </a:pPr>
            <a:r>
              <a:t>$1.85 B</a:t>
            </a:r>
          </a:p>
          <a:p>
            <a:pPr>
              <a:spcAft>
                <a:spcPts val="400"/>
              </a:spcAft>
              <a:defRPr sz="1200" b="1">
                <a:solidFill>
                  <a:srgbClr val="F2A33A"/>
                </a:solidFill>
                <a:latin typeface="Montserrat"/>
              </a:defRPr>
            </a:pPr>
            <a:r>
              <a:t>SAM: AI RED-TEAMING &amp; TESTING</a:t>
            </a:r>
          </a:p>
          <a:p>
            <a:pPr>
              <a:defRPr sz="1200">
                <a:solidFill>
                  <a:srgbClr val="1D1D1F"/>
                </a:solidFill>
                <a:latin typeface="IBM Plex Sans"/>
              </a:defRPr>
            </a:pPr>
            <a:r>
              <a:t>Serviceable market for automated AI adversarial vulnerability testing &amp; model compliance certification.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25332" y="2350000"/>
            <a:ext cx="5462666" cy="24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75332" y="2530000"/>
            <a:ext cx="4962666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Montserrat"/>
              </a:defRPr>
            </a:pPr>
            <a:r>
              <a:t>$120 M</a:t>
            </a:r>
          </a:p>
          <a:p>
            <a:pPr>
              <a:spcAft>
                <a:spcPts val="400"/>
              </a:spcAft>
              <a:defRPr sz="1200" b="1">
                <a:solidFill>
                  <a:srgbClr val="F2A33A"/>
                </a:solidFill>
                <a:latin typeface="Montserrat"/>
              </a:defRPr>
            </a:pPr>
            <a:r>
              <a:t>SOM: REGULATED AI ENTERPRISES</a:t>
            </a:r>
          </a:p>
          <a:p>
            <a:pPr>
              <a:defRPr sz="1200">
                <a:solidFill>
                  <a:srgbClr val="1D1D1F"/>
                </a:solidFill>
                <a:latin typeface="IBM Plex Sans"/>
              </a:defRPr>
            </a:pPr>
            <a:r>
              <a:t>Targeting Tier-1 Banks, Healthcare, and Defense contractors deploying customer-facing LLMs in Year 1–3.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5000000"/>
            <a:ext cx="8319000" cy="49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000" y="5180000"/>
            <a:ext cx="7819000" cy="4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BOTTOM-UP TRACTION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1. OPEN-CORE ADOPTION ENGINE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Free Open-Source Local Arena: Community edition for developers, academic researchers, and security teams.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Standalone CLI Verifier: Open-source verification tool distributed via npm &amp; PyPI.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Crowdsourced Attack Vault: Community contributes new jailbreak and injection suites.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Growth Engine: Bottom-up developer adoption creates enterprise inbound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69000" y="5000000"/>
            <a:ext cx="8319000" cy="490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19000" y="5180000"/>
            <a:ext cx="7819000" cy="4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HIGH-MARGIN MONETIZATION</a:t>
            </a:r>
          </a:p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Montserrat"/>
              </a:defRPr>
            </a:pPr>
            <a:r>
              <a:t>2. ENTERPRISE COMPLIANCE SAAS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Team Tier ($499/mo): Multi-user workspace, shared evaluation history, and automated report exports.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Enterprise Tier ($2,500 – $15,000/mo): Dedicated witness cluster, cloud SIEM integration, and EU AI Act passport generators.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Third-Party Attestation (₹5L – ₹25L per audit): Cryptographic attestation packages for security auditing firms.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Unit Economics: Target ACV $60,000 | CAC $12,000 | LTV $240,000 (5:1 LTV/CAC ratio).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0000" y="1450000"/>
            <a:ext cx="14000000" cy="5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COMPETITIVE MATRIX &amp; STRATEGIC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2150000"/>
            <a:ext cx="1300000" cy="38000"/>
          </a:xfrm>
          <a:prstGeom prst="rect">
            <a:avLst/>
          </a:prstGeom>
          <a:solidFill>
            <a:srgbClr val="D94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0000" y="2350000"/>
            <a:ext cx="8319000" cy="75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000" y="2530000"/>
            <a:ext cx="7819000" cy="7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WHY WE WIN</a:t>
            </a:r>
          </a:p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Montserrat"/>
              </a:defRPr>
            </a:pPr>
            <a:r>
              <a:t>COMPETITIVE COMPARISON MATRIX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1. Attack Frameworks (garak, PyRIT, HarmBench):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   • Generates attacks, but assumes the environment is trusted.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   • No mutual airgap · No cryptographic proof · Zero context hygiene.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2. Generic Sandboxes (Docker, gVisor, Kata):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   • Isolates processes, but blind to AI-native threats.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   • No KV-cache reset · No canary probes · No tamper evidence.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3. Cloud Audit Logs (CloudWatch, Datadog):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   • Logs stored in mutable DBs; admins can edit or delete them.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4. BASTIONLOOP (The Undisputed Winner):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   ✓ Mutual Tri-Party Airgap (Red/Blue/Model separated)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   ✓ Ed25519 &amp; Merkle Proof-Carrying Findings (PCFs)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   ✓ 6-Channel Canary Probing &amp; Commit-Reveal Secrecy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   ✓ 100% Offline Verifiable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69000" y="2350000"/>
            <a:ext cx="8319000" cy="7550000"/>
          </a:xfrm>
          <a:prstGeom prst="roundRect">
            <a:avLst/>
          </a:prstGeom>
          <a:solidFill>
            <a:srgbClr val="F6F3EE"/>
          </a:solidFill>
          <a:ln w="12700">
            <a:solidFill>
              <a:srgbClr val="E0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19000" y="2530000"/>
            <a:ext cx="7819000" cy="7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A33A"/>
                </a:solidFill>
                <a:latin typeface="Montserrat"/>
              </a:defRPr>
            </a:pPr>
            <a:r>
              <a:t>EXECUTION MILESTONES</a:t>
            </a:r>
          </a:p>
          <a:p>
            <a:pPr>
              <a:spcAft>
                <a:spcPts val="800"/>
              </a:spcAft>
              <a:defRPr sz="1500" b="1">
                <a:solidFill>
                  <a:srgbClr val="D9481F"/>
                </a:solidFill>
                <a:latin typeface="Montserrat"/>
              </a:defRPr>
            </a:pPr>
            <a:r>
              <a:t>STRATEGIC ROADMAP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PHASE 1: PRESENT (HACKATHON WINNER)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Working 9-microservice zero-trust core + Vite web UI.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94/94 passing tests · 4/4 verified PCFs · Tamper engine.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PHASE 2: Q2 2027 (SCALE &amp; EXPANSION)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MicroVM isolation (AWS Firecracker &amp; Kata Containers).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Consortium witness cosigning network across audit partners.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Automated EU AI Act Article 55 compliance export.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PHASE 3: Q4 2027 (HARDWARE ENCLAVES)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Confidential Computing (AMD SEV-SNP / Intel SGX TEE).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• Hardware-rooted transparency anchor log.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CORE CLOSING CALL TO ACTION:</a:t>
            </a:r>
          </a:p>
          <a:p>
            <a:pPr>
              <a:spcAft>
                <a:spcPts val="500"/>
              </a:spcAft>
              <a:defRPr sz="1200">
                <a:solidFill>
                  <a:srgbClr val="1D1D1F"/>
                </a:solidFill>
                <a:latin typeface="IBM Plex Sans"/>
              </a:defRPr>
            </a:pPr>
            <a:r>
              <a:t>Safety is not an unverified dashboard claim. It is a mathematical proof. BastionLoop delivers proof, not paint.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